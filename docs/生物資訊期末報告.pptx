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Play"/>
      <p:regular r:id="rId38"/>
      <p:bold r:id="rId39"/>
    </p:embeddedFont>
    <p:embeddedFont>
      <p:font typeface="Roboto"/>
      <p:regular r:id="rId40"/>
      <p:bold r:id="rId41"/>
      <p:italic r:id="rId42"/>
      <p:boldItalic r:id="rId43"/>
    </p:embeddedFont>
    <p:embeddedFont>
      <p:font typeface="Helvetica Neue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6B09A7-230A-45DB-8843-D154DDBF3BC6}">
  <a:tblStyle styleId="{4E6B09A7-230A-45DB-8843-D154DDBF3BC6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E45C1598-9E7A-420E-BD14-27F7431456A0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22" Type="http://schemas.openxmlformats.org/officeDocument/2006/relationships/slide" Target="slides/slide17.xml"/><Relationship Id="rId44" Type="http://schemas.openxmlformats.org/officeDocument/2006/relationships/font" Target="fonts/HelveticaNeue-regular.fntdata"/><Relationship Id="rId21" Type="http://schemas.openxmlformats.org/officeDocument/2006/relationships/slide" Target="slides/slide16.xml"/><Relationship Id="rId43" Type="http://schemas.openxmlformats.org/officeDocument/2006/relationships/font" Target="fonts/Roboto-boldItalic.fntdata"/><Relationship Id="rId24" Type="http://schemas.openxmlformats.org/officeDocument/2006/relationships/slide" Target="slides/slide19.xml"/><Relationship Id="rId46" Type="http://schemas.openxmlformats.org/officeDocument/2006/relationships/font" Target="fonts/HelveticaNeue-italic.fntdata"/><Relationship Id="rId23" Type="http://schemas.openxmlformats.org/officeDocument/2006/relationships/slide" Target="slides/slide18.xml"/><Relationship Id="rId45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HelveticaNeue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lay-bold.fntdata"/><Relationship Id="rId16" Type="http://schemas.openxmlformats.org/officeDocument/2006/relationships/slide" Target="slides/slide11.xml"/><Relationship Id="rId38" Type="http://schemas.openxmlformats.org/officeDocument/2006/relationships/font" Target="fonts/Play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66fb0d30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866fb0d30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866fb0d30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66fb0d30a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866fb0d30a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866fb0d30a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66fb0d30a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866fb0d30a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866fb0d30a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66fb0d30a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66fb0d30a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866fb0d30a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66fb0d30a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866fb0d30a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866fb0d30a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jpg"/><Relationship Id="rId4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jpg"/><Relationship Id="rId4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strike="noStrike">
                <a:latin typeface="Arial"/>
                <a:ea typeface="Arial"/>
                <a:cs typeface="Arial"/>
                <a:sym typeface="Arial"/>
              </a:rPr>
              <a:t>Expression Divergence of Chemosensory Genes between</a:t>
            </a:r>
            <a:br>
              <a:rPr b="1" i="0" lang="en-US" sz="2800" u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strike="noStrike">
                <a:latin typeface="Arial"/>
                <a:ea typeface="Arial"/>
                <a:cs typeface="Arial"/>
                <a:sym typeface="Arial"/>
              </a:rPr>
              <a:t>Drosophila sechellia and Its Sibling Species and Its</a:t>
            </a:r>
            <a:br>
              <a:rPr b="1" i="0" lang="en-US" sz="2800" u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strike="noStrike">
                <a:latin typeface="Arial"/>
                <a:ea typeface="Arial"/>
                <a:cs typeface="Arial"/>
                <a:sym typeface="Arial"/>
              </a:rPr>
              <a:t>Implications for Host Shift</a:t>
            </a:r>
            <a:endParaRPr b="1" sz="2800"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i="0" lang="en-US" sz="1800" u="none" strike="noStrike">
                <a:latin typeface="Arial"/>
                <a:ea typeface="Arial"/>
                <a:cs typeface="Arial"/>
                <a:sym typeface="Arial"/>
              </a:rPr>
              <a:t>Meng-Shin Shiao1,2,y, Jia-Ming Chang3,4,5,y, Wen-Lang Fan1,6, Mei-Yeh Jade Lu1, Cedric Notredame3,4,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i="0" lang="en-US" sz="1800" u="none" strike="noStrike">
                <a:latin typeface="Arial"/>
                <a:ea typeface="Arial"/>
                <a:cs typeface="Arial"/>
                <a:sym typeface="Arial"/>
              </a:rPr>
              <a:t>Shu Fang1, Rumi Kondo7,*, and Wen-Hsiung Li1,8,*</a:t>
            </a:r>
            <a:endParaRPr/>
          </a:p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921250" y="5257800"/>
            <a:ext cx="634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Group2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Introduction</a:t>
            </a:r>
            <a:endParaRPr b="1"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•"/>
            </a:pPr>
            <a:r>
              <a:rPr i="0" lang="en-US" sz="2200" u="none" strike="noStrike">
                <a:solidFill>
                  <a:srgbClr val="595959"/>
                </a:solidFill>
                <a:latin typeface="DFKai-SB"/>
                <a:ea typeface="DFKai-SB"/>
                <a:cs typeface="DFKai-SB"/>
                <a:sym typeface="DFKai-SB"/>
              </a:rPr>
              <a:t>塞席爾果蠅</a:t>
            </a:r>
            <a:r>
              <a:rPr i="0" lang="en-US" sz="2200" u="none" strike="noStrike">
                <a:solidFill>
                  <a:srgbClr val="595959"/>
                </a:solidFill>
              </a:rPr>
              <a:t>(Drosophila sechellia</a:t>
            </a:r>
            <a:r>
              <a:rPr lang="en-US" sz="2200">
                <a:solidFill>
                  <a:srgbClr val="595959"/>
                </a:solidFill>
              </a:rPr>
              <a:t>)</a:t>
            </a:r>
            <a:r>
              <a:rPr lang="en-US" sz="2200">
                <a:solidFill>
                  <a:srgbClr val="595959"/>
                </a:solidFill>
                <a:latin typeface="DFKai-SB"/>
                <a:ea typeface="DFKai-SB"/>
                <a:cs typeface="DFKai-SB"/>
                <a:sym typeface="DFKai-SB"/>
              </a:rPr>
              <a:t>以諾麗果為食，並在其上繁殖後代。</a:t>
            </a:r>
            <a:endParaRPr sz="2200">
              <a:solidFill>
                <a:srgbClr val="595959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200"/>
              <a:buChar char="•"/>
            </a:pPr>
            <a:r>
              <a:rPr lang="en-US" sz="2200">
                <a:solidFill>
                  <a:srgbClr val="595959"/>
                </a:solidFill>
                <a:latin typeface="DFKai-SB"/>
                <a:ea typeface="DFKai-SB"/>
                <a:cs typeface="DFKai-SB"/>
                <a:sym typeface="DFKai-SB"/>
              </a:rPr>
              <a:t>對於大多數昆蟲，包括其近親—黑腹果蠅</a:t>
            </a:r>
            <a:r>
              <a:rPr lang="en-US" sz="2200">
                <a:solidFill>
                  <a:srgbClr val="595959"/>
                </a:solidFill>
              </a:rPr>
              <a:t>(D.melanogaster)</a:t>
            </a:r>
            <a:r>
              <a:rPr lang="en-US" sz="2200">
                <a:solidFill>
                  <a:srgbClr val="595959"/>
                </a:solidFill>
                <a:latin typeface="DFKai-SB"/>
                <a:ea typeface="DFKai-SB"/>
                <a:cs typeface="DFKai-SB"/>
                <a:sym typeface="DFKai-SB"/>
              </a:rPr>
              <a:t>和擬果蠅</a:t>
            </a:r>
            <a:r>
              <a:rPr lang="en-US" sz="2200">
                <a:solidFill>
                  <a:srgbClr val="595959"/>
                </a:solidFill>
              </a:rPr>
              <a:t>(D.simulans)</a:t>
            </a:r>
            <a:r>
              <a:rPr lang="en-US" sz="2200">
                <a:solidFill>
                  <a:srgbClr val="595959"/>
                </a:solidFill>
                <a:latin typeface="DFKai-SB"/>
                <a:ea typeface="DFKai-SB"/>
                <a:cs typeface="DFKai-SB"/>
                <a:sym typeface="DFKai-SB"/>
              </a:rPr>
              <a:t>而言，諾麗果的化學物質是劇毒的。</a:t>
            </a:r>
            <a:endParaRPr sz="2200">
              <a:solidFill>
                <a:srgbClr val="595959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200"/>
              <a:buChar char="•"/>
            </a:pPr>
            <a:r>
              <a:rPr lang="en-US" sz="2200">
                <a:solidFill>
                  <a:srgbClr val="595959"/>
                </a:solidFill>
                <a:latin typeface="DFKai-SB"/>
                <a:ea typeface="DFKai-SB"/>
                <a:cs typeface="DFKai-SB"/>
                <a:sym typeface="DFKai-SB"/>
              </a:rPr>
              <a:t>塞席爾果蠅如何演化出對這種致命果實的獨特偏好</a:t>
            </a:r>
            <a:r>
              <a:rPr lang="en-US" sz="2200">
                <a:solidFill>
                  <a:srgbClr val="595959"/>
                </a:solidFill>
              </a:rPr>
              <a:t>?</a:t>
            </a:r>
            <a:r>
              <a:rPr lang="en-US" sz="2200">
                <a:solidFill>
                  <a:srgbClr val="595959"/>
                </a:solidFill>
                <a:latin typeface="DFKai-SB"/>
                <a:ea typeface="DFKai-SB"/>
                <a:cs typeface="DFKai-SB"/>
                <a:sym typeface="DFKai-SB"/>
              </a:rPr>
              <a:t>其感官系統的遺傳密碼發生了什麼轉變</a:t>
            </a:r>
            <a:r>
              <a:rPr lang="en-US" sz="2200">
                <a:solidFill>
                  <a:srgbClr val="595959"/>
                </a:solidFill>
              </a:rPr>
              <a:t>?</a:t>
            </a:r>
            <a:endParaRPr sz="2200"/>
          </a:p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Introduction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特化種</a:t>
            </a:r>
            <a:r>
              <a:rPr b="1" lang="en-US" sz="2200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塞席爾果蠅</a:t>
            </a:r>
            <a:r>
              <a:rPr lang="en-US" sz="2200"/>
              <a:t>(D.sechellia):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專一食用有毒的諾麗果。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對照組</a:t>
            </a:r>
            <a:r>
              <a:rPr b="1" lang="en-US" sz="2200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擬果蠅</a:t>
            </a:r>
            <a:r>
              <a:rPr lang="en-US" sz="2200"/>
              <a:t>(D.simulans):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與塞席爾果蠅關係最親近，為多食性</a:t>
            </a:r>
            <a:endParaRPr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黑腹果蠅</a:t>
            </a:r>
            <a:r>
              <a:rPr lang="en-US" sz="2200"/>
              <a:t>(D.melanogaster):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作為</a:t>
            </a:r>
            <a:r>
              <a:rPr lang="en-US" sz="2200"/>
              <a:t>outgroup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，亦為多食性</a:t>
            </a:r>
            <a:endParaRPr sz="2200"/>
          </a:p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4752" y="1994114"/>
            <a:ext cx="7562496" cy="1984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Introduction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化學感應基因: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昆蟲覓食、求偶與生存的基礎，推測此類基因的表現變化與塞席爾果蠅的宿主轉移有密切相關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氣味結合蛋白</a:t>
            </a:r>
            <a:r>
              <a:rPr lang="en-US" sz="2200"/>
              <a:t>(Odorant Binding Proteins, Obp):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負責捕捉並運送氣味分子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化學感應蛋白</a:t>
            </a:r>
            <a:r>
              <a:rPr lang="en-US" sz="2200"/>
              <a:t>(Chemosensory Proteins, Csp):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功能與</a:t>
            </a:r>
            <a:r>
              <a:rPr lang="en-US" sz="2200"/>
              <a:t>Obp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相似，與費洛蒙感知相關。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嗅覺受體</a:t>
            </a:r>
            <a:r>
              <a:rPr lang="en-US" sz="2200"/>
              <a:t>(Olfactory Receptors, Or):</a:t>
            </a:r>
            <a:r>
              <a:rPr b="0" i="0" lang="en-US" sz="2200">
                <a:solidFill>
                  <a:srgbClr val="303030"/>
                </a:solidFill>
                <a:latin typeface="DFKai-SB"/>
                <a:ea typeface="DFKai-SB"/>
                <a:cs typeface="DFKai-SB"/>
                <a:sym typeface="DFKai-SB"/>
              </a:rPr>
              <a:t>位於嗅覺神經元上的膜蛋白，負責辨識特定氣味分子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。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味覺受體</a:t>
            </a:r>
            <a:r>
              <a:rPr lang="en-US" sz="2200"/>
              <a:t>(Gustatory Receptors, Gr):</a:t>
            </a:r>
            <a:r>
              <a:rPr b="0" i="0" lang="en-US" sz="2200">
                <a:solidFill>
                  <a:srgbClr val="303030"/>
                </a:solidFill>
                <a:latin typeface="DFKai-SB"/>
                <a:ea typeface="DFKai-SB"/>
                <a:cs typeface="DFKai-SB"/>
                <a:sym typeface="DFKai-SB"/>
              </a:rPr>
              <a:t>主要分布於口器與足部等部位，負責感知溶解在液體中的化學物質。</a:t>
            </a:r>
            <a:endParaRPr b="0" i="0" sz="2200">
              <a:solidFill>
                <a:srgbClr val="3030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離子型受體</a:t>
            </a:r>
            <a:r>
              <a:rPr lang="en-US" sz="2200"/>
              <a:t>(Ionotropic Receptors, Ir):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另一類嗅覺受體，通常偵測酸與胺類。</a:t>
            </a:r>
            <a:endParaRPr/>
          </a:p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Related work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特定基因的功能改變: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03030"/>
              </a:buClr>
              <a:buSzPts val="2200"/>
              <a:buChar char="•"/>
            </a:pPr>
            <a:r>
              <a:rPr b="0" i="0" lang="en-US" sz="2200">
                <a:solidFill>
                  <a:srgbClr val="303030"/>
                </a:solidFill>
                <a:latin typeface="DFKai-SB"/>
                <a:ea typeface="DFKai-SB"/>
                <a:cs typeface="DFKai-SB"/>
                <a:sym typeface="DFKai-SB"/>
              </a:rPr>
              <a:t>研究指出</a:t>
            </a:r>
            <a:r>
              <a:rPr b="0" i="0" lang="en-US" sz="2200">
                <a:solidFill>
                  <a:srgbClr val="303030"/>
                </a:solidFill>
              </a:rPr>
              <a:t>O</a:t>
            </a:r>
            <a:r>
              <a:rPr lang="en-US" sz="2200">
                <a:solidFill>
                  <a:srgbClr val="303030"/>
                </a:solidFill>
              </a:rPr>
              <a:t>bp57d/e</a:t>
            </a:r>
            <a:r>
              <a:rPr b="0" i="0" lang="en-US" sz="2200">
                <a:solidFill>
                  <a:srgbClr val="303030"/>
                </a:solidFill>
                <a:latin typeface="DFKai-SB"/>
                <a:ea typeface="DFKai-SB"/>
                <a:cs typeface="DFKai-SB"/>
                <a:sym typeface="DFKai-SB"/>
              </a:rPr>
              <a:t>基因的功能性改變，以及</a:t>
            </a:r>
            <a:r>
              <a:rPr b="0" lang="en-US" sz="2200">
                <a:solidFill>
                  <a:srgbClr val="303030"/>
                </a:solidFill>
              </a:rPr>
              <a:t>Or22a</a:t>
            </a:r>
            <a:r>
              <a:rPr b="0" i="0" lang="en-US" sz="2200">
                <a:solidFill>
                  <a:srgbClr val="303030"/>
                </a:solidFill>
                <a:latin typeface="DFKai-SB"/>
                <a:ea typeface="DFKai-SB"/>
                <a:cs typeface="DFKai-SB"/>
                <a:sym typeface="DFKai-SB"/>
              </a:rPr>
              <a:t>和</a:t>
            </a:r>
            <a:r>
              <a:rPr b="0" lang="en-US" sz="2200">
                <a:solidFill>
                  <a:srgbClr val="303030"/>
                </a:solidFill>
              </a:rPr>
              <a:t>Or22b</a:t>
            </a:r>
            <a:r>
              <a:rPr b="0" i="0" lang="en-US" sz="2200">
                <a:solidFill>
                  <a:srgbClr val="303030"/>
                </a:solidFill>
                <a:latin typeface="DFKai-SB"/>
                <a:ea typeface="DFKai-SB"/>
                <a:cs typeface="DFKai-SB"/>
                <a:sym typeface="DFKai-SB"/>
              </a:rPr>
              <a:t>基因表現量的增加，可能與其對諾麗果的偏好有關。</a:t>
            </a:r>
            <a:endParaRPr b="1"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基因丟失: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03030"/>
              </a:buClr>
              <a:buSzPts val="2200"/>
              <a:buChar char="•"/>
            </a:pPr>
            <a:r>
              <a:rPr lang="en-US" sz="2200">
                <a:solidFill>
                  <a:srgbClr val="303030"/>
                </a:solidFill>
              </a:rPr>
              <a:t>D.sechellia</a:t>
            </a:r>
            <a:r>
              <a:rPr b="0" i="0" lang="en-US" sz="2200">
                <a:solidFill>
                  <a:srgbClr val="303030"/>
                </a:solidFill>
                <a:latin typeface="DFKai-SB"/>
                <a:ea typeface="DFKai-SB"/>
                <a:cs typeface="DFKai-SB"/>
                <a:sym typeface="DFKai-SB"/>
              </a:rPr>
              <a:t>基因體中發生了加速的基因丟失現象。然而，此現象或許僅能解釋一個物種如何演化出「不避開」某個植物寄主的過程，卻不足以說明其如何主動適應一個新寄主，因為這可能需要新的受體或特定現有基因的表現發生改變。</a:t>
            </a:r>
            <a:endParaRPr b="1"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感受器數量改變: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有假說認為，</a:t>
            </a:r>
            <a:r>
              <a:rPr lang="en-US" sz="2200"/>
              <a:t>D.sechellia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觸角上特定類型感受器</a:t>
            </a:r>
            <a:r>
              <a:rPr lang="en-US" sz="2200"/>
              <a:t>(sensilla)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的數量發生了改變，從而改變了其嗅覺敏銳度。</a:t>
            </a:r>
            <a:endParaRPr b="1" sz="18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上述多聚焦於單一基因或單一家族，缺乏一個全面性的視角來檢視整個化學感應系統在</a:t>
            </a:r>
            <a:r>
              <a:rPr lang="en-US" sz="2200"/>
              <a:t>D.sechellia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觸角中的演變。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latin typeface="DFKai-SB"/>
              <a:ea typeface="DFKai-SB"/>
              <a:cs typeface="DFKai-SB"/>
              <a:sym typeface="DFKai-SB"/>
            </a:endParaRPr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20" name="Google Shape;1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Motivation and Hypothesis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由於在</a:t>
            </a:r>
            <a:r>
              <a:rPr lang="en-US" sz="2200"/>
              <a:t>D.sechellia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的基因體中並未發現新的化學感應基因，推斷其對諾麗果的適應性演化並非透過</a:t>
            </a:r>
            <a:r>
              <a:rPr b="0" i="0" lang="en-US" sz="2200">
                <a:solidFill>
                  <a:srgbClr val="303030"/>
                </a:solidFill>
                <a:latin typeface="DFKai-SB"/>
                <a:ea typeface="DFKai-SB"/>
                <a:cs typeface="DFKai-SB"/>
                <a:sym typeface="DFKai-SB"/>
              </a:rPr>
              <a:t>「創造新工具」，而是透過「重新調配現有工具」來達成。</a:t>
            </a:r>
            <a:endParaRPr b="0" i="0" sz="2200">
              <a:solidFill>
                <a:srgbClr val="3030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3030"/>
              </a:buClr>
              <a:buSzPts val="2800"/>
              <a:buChar char="•"/>
            </a:pPr>
            <a:r>
              <a:rPr b="1" lang="en-US">
                <a:solidFill>
                  <a:srgbClr val="303030"/>
                </a:solidFill>
                <a:latin typeface="DFKai-SB"/>
                <a:ea typeface="DFKai-SB"/>
                <a:cs typeface="DFKai-SB"/>
                <a:sym typeface="DFKai-SB"/>
              </a:rPr>
              <a:t>猜測: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03030"/>
              </a:buClr>
              <a:buSzPts val="2200"/>
              <a:buChar char="•"/>
            </a:pPr>
            <a:r>
              <a:rPr lang="en-US" sz="2200">
                <a:solidFill>
                  <a:srgbClr val="303030"/>
                </a:solidFill>
                <a:latin typeface="DFKai-SB"/>
                <a:ea typeface="DFKai-SB"/>
                <a:cs typeface="DFKai-SB"/>
                <a:sym typeface="DFKai-SB"/>
              </a:rPr>
              <a:t>演化驅動力可能來自於對現有基因表現量的精細調控，而非演化出全新的基因。</a:t>
            </a:r>
            <a:endParaRPr b="1">
              <a:solidFill>
                <a:srgbClr val="30303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3030"/>
              </a:buClr>
              <a:buSzPts val="2800"/>
              <a:buChar char="•"/>
            </a:pPr>
            <a:r>
              <a:rPr b="1" lang="en-US">
                <a:solidFill>
                  <a:srgbClr val="303030"/>
                </a:solidFill>
                <a:latin typeface="DFKai-SB"/>
                <a:ea typeface="DFKai-SB"/>
                <a:cs typeface="DFKai-SB"/>
                <a:sym typeface="DFKai-SB"/>
              </a:rPr>
              <a:t>預期: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03030"/>
              </a:buClr>
              <a:buSzPts val="2200"/>
              <a:buChar char="•"/>
            </a:pPr>
            <a:r>
              <a:rPr lang="en-US" sz="2200">
                <a:solidFill>
                  <a:srgbClr val="303030"/>
                </a:solidFill>
                <a:latin typeface="DFKai-SB"/>
                <a:ea typeface="DFKai-SB"/>
                <a:cs typeface="DFKai-SB"/>
                <a:sym typeface="DFKai-SB"/>
              </a:rPr>
              <a:t>在塞席爾果蠅品系中，差異表現的化學感應基因有顯著增加的現象。</a:t>
            </a:r>
            <a:endParaRPr sz="2200">
              <a:solidFill>
                <a:srgbClr val="30303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Materials and Methods</a:t>
            </a:r>
            <a:endParaRPr b="1"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實驗設計: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比較</a:t>
            </a:r>
            <a:r>
              <a:rPr lang="en-US" sz="2200"/>
              <a:t>D.sechellia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與</a:t>
            </a:r>
            <a:r>
              <a:rPr lang="en-US" sz="2200"/>
              <a:t>D.melanogaster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(雌雄)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比較</a:t>
            </a:r>
            <a:r>
              <a:rPr lang="en-US" sz="2200"/>
              <a:t>D.sechellia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與</a:t>
            </a:r>
            <a:r>
              <a:rPr lang="en-US" sz="2200"/>
              <a:t>D.simulans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(雌雄)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找出在塞席爾果蠅中，相較於兩個近親物種都有一致性差異表現的基因。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實驗流程: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5" name="Google Shape;1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2758" y="4240844"/>
            <a:ext cx="7866483" cy="2252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Experiment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1.</a:t>
            </a: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樣本採集: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因為觸角是果蠅的主要嗅覺器官，所以觸角的基因表現譜成為理想標的。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從</a:t>
            </a:r>
            <a:r>
              <a:rPr lang="en-US" sz="2200"/>
              <a:t>3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種果蠅的雌雄成蟲中，分離出</a:t>
            </a:r>
            <a:r>
              <a:rPr lang="en-US" sz="2200"/>
              <a:t>300~700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對觸角，以確保組織的特異性。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2.RNA</a:t>
            </a: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萃取與定序: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萃取觸角樣本中的總</a:t>
            </a:r>
            <a:r>
              <a:rPr lang="en-US" sz="2200"/>
              <a:t>RNA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，並進行</a:t>
            </a:r>
            <a:r>
              <a:rPr lang="en-US" sz="2200"/>
              <a:t>RNA-seq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定序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3.</a:t>
            </a: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數據分析: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先建立</a:t>
            </a:r>
            <a:r>
              <a:rPr lang="en-US" sz="2200"/>
              <a:t>3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物種間的直系同源基因集</a:t>
            </a:r>
            <a:r>
              <a:rPr lang="en-US" sz="2200"/>
              <a:t>(OGS)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，確保比較的基因是演化上的同源對應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計算每個基因的表現量，以</a:t>
            </a:r>
            <a:r>
              <a:rPr lang="en-US" sz="2200"/>
              <a:t>FPKM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值表示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使用</a:t>
            </a:r>
            <a:r>
              <a:rPr lang="en-US" sz="2200"/>
              <a:t>NOISeq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分析軟體鑑定差異表現基因</a:t>
            </a:r>
            <a:r>
              <a:rPr lang="en-US" sz="2200"/>
              <a:t>(DEGs)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2" name="Google Shape;14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Experiment</a:t>
            </a:r>
            <a:endParaRPr/>
          </a:p>
        </p:txBody>
      </p:sp>
      <p:graphicFrame>
        <p:nvGraphicFramePr>
          <p:cNvPr id="148" name="Google Shape;148;p21"/>
          <p:cNvGraphicFramePr/>
          <p:nvPr/>
        </p:nvGraphicFramePr>
        <p:xfrm>
          <a:off x="880429" y="48729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{4E6B09A7-230A-45DB-8843-D154DDBF3BC6}</a:tableStyleId>
              </a:tblPr>
              <a:tblGrid>
                <a:gridCol w="2352875"/>
                <a:gridCol w="1730600"/>
                <a:gridCol w="2006375"/>
                <a:gridCol w="2103125"/>
                <a:gridCol w="210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Dsec/Dmel_M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Dsec/Dmel_F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Dsec/Dsim_M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Dsec/Dsim_F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Gene up-regulated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516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591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570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384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Gene down-regulated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469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551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684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367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DEGs_total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985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1142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1254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751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9" name="Google Shape;1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2659" y="959304"/>
            <a:ext cx="5356253" cy="3719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Experiment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顯著上調化學感應基因</a:t>
            </a:r>
            <a:r>
              <a:rPr b="1" lang="en-US" sz="2200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Obp50a: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D. sechellia 與 D. melanogaster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比較中顯著上調</a:t>
            </a:r>
            <a:r>
              <a:rPr lang="en-US" sz="1800"/>
              <a:t>(Log2-ratio = 7.02) 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D. sechellia 與與 D. simulans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相比也有上調</a:t>
            </a:r>
            <a:r>
              <a:rPr lang="en-US" sz="1800"/>
              <a:t>(Log2-ratio = 3.74 )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Or85c:</a:t>
            </a:r>
            <a:endParaRPr sz="2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過去被認為是幼蟲特異性基因，但在 D. sechellia 成蟲觸角中顯著上調 (Log2-ratio &gt; 3.6)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CheA87a: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D. sechellia 的 FPKM 值高達 226-279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，而近親物種僅有個位數</a:t>
            </a:r>
            <a:endParaRPr b="1" sz="1800"/>
          </a:p>
        </p:txBody>
      </p:sp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4411" y="1470426"/>
            <a:ext cx="8483177" cy="525104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Experiment</a:t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1952106" y="737010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89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</p:txBody>
      </p:sp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1952106" y="3072275"/>
            <a:ext cx="8030094" cy="157942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1961804" y="3627783"/>
            <a:ext cx="8030094" cy="159026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1961804" y="4691270"/>
            <a:ext cx="8030094" cy="188843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Experiment</a:t>
            </a:r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非化學感應基因表現量差異</a:t>
            </a:r>
            <a:r>
              <a:rPr b="1" lang="en-US" sz="2200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上調基因</a:t>
            </a:r>
            <a:endParaRPr sz="2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1413"/>
              </a:buClr>
              <a:buSzPts val="1800"/>
              <a:buChar char="•"/>
            </a:pPr>
            <a:r>
              <a:rPr lang="en-US" sz="1800">
                <a:solidFill>
                  <a:srgbClr val="14141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CG10513, CG10514, CG10553, CG32195, CG9497, and CG9498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1413"/>
              </a:buClr>
              <a:buSzPts val="1800"/>
              <a:buChar char="•"/>
            </a:pPr>
            <a:r>
              <a:rPr lang="en-US" sz="1800">
                <a:solidFill>
                  <a:srgbClr val="14141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CG10932, CG31075, and CG8778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下調基因：</a:t>
            </a:r>
            <a:r>
              <a:rPr lang="en-US" sz="2200"/>
              <a:t>GO category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1413"/>
              </a:buClr>
              <a:buSzPts val="1800"/>
              <a:buChar char="•"/>
            </a:pPr>
            <a:r>
              <a:rPr lang="en-US" sz="1800">
                <a:solidFill>
                  <a:srgbClr val="14141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GstE9 and GstD8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1413"/>
              </a:buClr>
              <a:buSzPts val="1800"/>
              <a:buChar char="•"/>
            </a:pPr>
            <a:r>
              <a:rPr lang="en-US" sz="1800">
                <a:solidFill>
                  <a:srgbClr val="14141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Jheh1, Jheh2, and Jheh3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1413"/>
              </a:buClr>
              <a:buSzPts val="1800"/>
              <a:buChar char="•"/>
            </a:pPr>
            <a:r>
              <a:rPr lang="en-US" sz="1800">
                <a:solidFill>
                  <a:srgbClr val="14141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Cyp308a1 and Cyp4d8</a:t>
            </a:r>
            <a:endParaRPr/>
          </a:p>
        </p:txBody>
      </p:sp>
      <p:sp>
        <p:nvSpPr>
          <p:cNvPr id="175" name="Google Shape;17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Experiment</a:t>
            </a:r>
            <a:endParaRPr/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化學感應受器數量與基因表現量</a:t>
            </a:r>
            <a:endParaRPr b="1"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比較基因</a:t>
            </a:r>
            <a:endParaRPr sz="2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Or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基因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Ir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基因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Obp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基因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Gr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基因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呈現方式</a:t>
            </a:r>
            <a:endParaRPr sz="2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熱力圖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集群</a:t>
            </a:r>
            <a:endParaRPr sz="1800"/>
          </a:p>
        </p:txBody>
      </p:sp>
      <p:sp>
        <p:nvSpPr>
          <p:cNvPr id="182" name="Google Shape;18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Experiment</a:t>
            </a:r>
            <a:endParaRPr/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Or </a:t>
            </a: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基因化學感應受器數量與基因表現量</a:t>
            </a:r>
            <a:endParaRPr b="1"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Or 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基因：相當差異性</a:t>
            </a:r>
            <a:endParaRPr sz="2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高表現量：紅色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低表現量：黃色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限制：高表現量差異難以區分</a:t>
            </a:r>
            <a:endParaRPr sz="1800"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</p:txBody>
      </p:sp>
      <p:sp>
        <p:nvSpPr>
          <p:cNvPr id="189" name="Google Shape;18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0" name="Google Shape;190;p26"/>
          <p:cNvPicPr preferRelativeResize="0"/>
          <p:nvPr/>
        </p:nvPicPr>
        <p:blipFill rotWithShape="1">
          <a:blip r:embed="rId3">
            <a:alphaModFix/>
          </a:blip>
          <a:srcRect b="1597" l="10059" r="13085" t="3886"/>
          <a:stretch/>
        </p:blipFill>
        <p:spPr>
          <a:xfrm>
            <a:off x="6125742" y="635000"/>
            <a:ext cx="6090972" cy="5857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26"/>
          <p:cNvCxnSpPr/>
          <p:nvPr/>
        </p:nvCxnSpPr>
        <p:spPr>
          <a:xfrm>
            <a:off x="9498639" y="659714"/>
            <a:ext cx="0" cy="520494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Discussion</a:t>
            </a:r>
            <a:endParaRPr/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Or 基因化學感應受器數量與基因表現量部分矛盾 </a:t>
            </a:r>
            <a:endParaRPr b="1"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Related Work: </a:t>
            </a:r>
            <a:endParaRPr sz="2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ab3 感應受器增加 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ab3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相關基因表現量增加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實際：</a:t>
            </a:r>
            <a:r>
              <a:rPr lang="en-US" sz="2200"/>
              <a:t>Or22a 與 Or22b 下調（位於 ab3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感應受器）</a:t>
            </a:r>
            <a:endParaRPr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發現：感應受器變多導致基因表現量變少，與預期相反</a:t>
            </a:r>
            <a:endParaRPr sz="2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運用不同實驗室生物樣本，可能屬於生物重複（二者比較僅</a:t>
            </a:r>
            <a:r>
              <a:rPr lang="en-US" sz="1800"/>
              <a:t> 131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個基因表示差異）</a:t>
            </a:r>
            <a:endParaRPr sz="1800"/>
          </a:p>
        </p:txBody>
      </p:sp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Discussion</a:t>
            </a:r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Csp </a:t>
            </a: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基因化學感應受器數量與基因表現量部分矛盾</a:t>
            </a:r>
            <a:endParaRPr b="1"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Relate Work: </a:t>
            </a:r>
            <a:endParaRPr sz="2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基因：</a:t>
            </a:r>
            <a:r>
              <a:rPr lang="en-US" sz="1800"/>
              <a:t> a10, CG30172, PebIII, and Phk-3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（最少數量）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a10: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觸角相關基因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實際</a:t>
            </a:r>
            <a:endParaRPr sz="2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a10 基因、PebIII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基因表現量</a:t>
            </a:r>
            <a:endParaRPr sz="1800"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D. melanogaster: O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D. simulans: X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CG30172 基因表現量</a:t>
            </a:r>
            <a:endParaRPr sz="1800"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D. melanogaster: X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D. simulans: O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Phk-3 基因表現量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發現：</a:t>
            </a:r>
            <a:r>
              <a:rPr lang="en-US" sz="2200"/>
              <a:t> Phk-3 基因可能與 D. sechellia 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演化有關</a:t>
            </a:r>
            <a:endParaRPr sz="2200"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205" name="Google Shape;205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Discussion</a:t>
            </a:r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Ir </a:t>
            </a: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基因化學感應受器數量與基因表現量</a:t>
            </a:r>
            <a:endParaRPr b="1"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Ir 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基因：相當差異性</a:t>
            </a:r>
            <a:endParaRPr sz="2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高表現量：紅色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低表現量：黃色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限制：高表現量差異難以區分</a:t>
            </a:r>
            <a:endParaRPr sz="1800"/>
          </a:p>
        </p:txBody>
      </p:sp>
      <p:sp>
        <p:nvSpPr>
          <p:cNvPr id="212" name="Google Shape;21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3" name="Google Shape;213;p29"/>
          <p:cNvPicPr preferRelativeResize="0"/>
          <p:nvPr/>
        </p:nvPicPr>
        <p:blipFill rotWithShape="1">
          <a:blip r:embed="rId3">
            <a:alphaModFix/>
          </a:blip>
          <a:srcRect b="0" l="5364" r="0" t="0"/>
          <a:stretch/>
        </p:blipFill>
        <p:spPr>
          <a:xfrm>
            <a:off x="6147487" y="408318"/>
            <a:ext cx="6044513" cy="63131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4" name="Google Shape;214;p29"/>
          <p:cNvCxnSpPr/>
          <p:nvPr/>
        </p:nvCxnSpPr>
        <p:spPr>
          <a:xfrm>
            <a:off x="9498639" y="659714"/>
            <a:ext cx="0" cy="520494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Discussion</a:t>
            </a:r>
            <a:endParaRPr/>
          </a:p>
        </p:txBody>
      </p:sp>
      <p:sp>
        <p:nvSpPr>
          <p:cNvPr id="220" name="Google Shape;220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Ir </a:t>
            </a: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基因化學感應受器數量與基因表現量</a:t>
            </a:r>
            <a:endParaRPr b="1"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Related Work: </a:t>
            </a:r>
            <a:endParaRPr sz="2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15 個 Ir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基因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Ir84a: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食物衍生受器，</a:t>
            </a:r>
            <a:r>
              <a:rPr lang="en-US" sz="1800"/>
              <a:t> D. melanogaster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雄性求偶行為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實際：</a:t>
            </a:r>
            <a:r>
              <a:rPr lang="en-US" sz="2200"/>
              <a:t>10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個表現，</a:t>
            </a:r>
            <a:r>
              <a:rPr lang="en-US" sz="2200"/>
              <a:t> Ir84a 和 Ir76a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具有差異性表現</a:t>
            </a:r>
            <a:endParaRPr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發現：</a:t>
            </a:r>
            <a:r>
              <a:rPr lang="en-US" sz="2200"/>
              <a:t>Ir84a 和 Ir76a 可能與 D. sechellia </a:t>
            </a: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演化有關</a:t>
            </a:r>
            <a:endParaRPr/>
          </a:p>
        </p:txBody>
      </p:sp>
      <p:sp>
        <p:nvSpPr>
          <p:cNvPr id="221" name="Google Shape;22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Discussion</a:t>
            </a:r>
            <a:endParaRPr/>
          </a:p>
        </p:txBody>
      </p:sp>
      <p:sp>
        <p:nvSpPr>
          <p:cNvPr id="227" name="Google Shape;227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其他基因化學感應受器數量與基因表現量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其他基因：</a:t>
            </a:r>
            <a:r>
              <a:rPr lang="en-US" sz="2200"/>
              <a:t>Obp 基因</a:t>
            </a:r>
            <a:endParaRPr sz="2200"/>
          </a:p>
        </p:txBody>
      </p:sp>
      <p:sp>
        <p:nvSpPr>
          <p:cNvPr id="228" name="Google Shape;22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9" name="Google Shape;229;p31"/>
          <p:cNvPicPr preferRelativeResize="0"/>
          <p:nvPr/>
        </p:nvPicPr>
        <p:blipFill rotWithShape="1">
          <a:blip r:embed="rId3">
            <a:alphaModFix/>
          </a:blip>
          <a:srcRect b="0" l="5863" r="0" t="0"/>
          <a:stretch/>
        </p:blipFill>
        <p:spPr>
          <a:xfrm>
            <a:off x="6203091" y="271849"/>
            <a:ext cx="6419283" cy="63779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31"/>
          <p:cNvCxnSpPr/>
          <p:nvPr/>
        </p:nvCxnSpPr>
        <p:spPr>
          <a:xfrm>
            <a:off x="9498639" y="659714"/>
            <a:ext cx="0" cy="520494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Discussion</a:t>
            </a:r>
            <a:endParaRPr/>
          </a:p>
        </p:txBody>
      </p:sp>
      <p:sp>
        <p:nvSpPr>
          <p:cNvPr id="236" name="Google Shape;236;p32"/>
          <p:cNvSpPr txBox="1"/>
          <p:nvPr>
            <p:ph idx="1" type="body"/>
          </p:nvPr>
        </p:nvSpPr>
        <p:spPr>
          <a:xfrm>
            <a:off x="838200" y="809466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237" name="Google Shape;23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8" name="Google Shape;238;p32"/>
          <p:cNvPicPr preferRelativeResize="0"/>
          <p:nvPr/>
        </p:nvPicPr>
        <p:blipFill rotWithShape="1">
          <a:blip r:embed="rId3">
            <a:alphaModFix/>
          </a:blip>
          <a:srcRect b="0" l="0" r="0" t="1570"/>
          <a:stretch/>
        </p:blipFill>
        <p:spPr>
          <a:xfrm>
            <a:off x="2295939" y="1272210"/>
            <a:ext cx="7686261" cy="5449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Discussion</a:t>
            </a:r>
            <a:endParaRPr/>
          </a:p>
        </p:txBody>
      </p:sp>
      <p:sp>
        <p:nvSpPr>
          <p:cNvPr id="244" name="Google Shape;244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小結</a:t>
            </a:r>
            <a:endParaRPr b="1"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適應性演化</a:t>
            </a:r>
            <a:endParaRPr sz="22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所有化學感應基因調控，諸如 Or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基因、</a:t>
            </a:r>
            <a:r>
              <a:rPr lang="en-US" sz="1800"/>
              <a:t>Ir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基因、</a:t>
            </a:r>
            <a:r>
              <a:rPr lang="en-US" sz="1800"/>
              <a:t> Obp </a:t>
            </a:r>
            <a:r>
              <a:rPr lang="en-US" sz="1800">
                <a:latin typeface="DFKai-SB"/>
                <a:ea typeface="DFKai-SB"/>
                <a:cs typeface="DFKai-SB"/>
                <a:sym typeface="DFKai-SB"/>
              </a:rPr>
              <a:t>基因等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DFKai-SB"/>
                <a:ea typeface="DFKai-SB"/>
                <a:cs typeface="DFKai-SB"/>
                <a:sym typeface="DFKai-SB"/>
              </a:rPr>
              <a:t>主要基因演變趨力來自基因表現量的上調</a:t>
            </a:r>
            <a:endParaRPr sz="2200"/>
          </a:p>
          <a:p>
            <a:pPr indent="-889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245" name="Google Shape;245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i="0" lang="en-US" u="none" strike="noStrike"/>
              <a:t>What’s Next?</a:t>
            </a:r>
            <a:endParaRPr/>
          </a:p>
        </p:txBody>
      </p:sp>
      <p:sp>
        <p:nvSpPr>
          <p:cNvPr id="251" name="Google Shape;251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重現實驗結果</a:t>
            </a:r>
            <a:endParaRPr b="1"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相關問題解決</a:t>
            </a:r>
            <a:endParaRPr b="1"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latin typeface="DFKai-SB"/>
                <a:ea typeface="DFKai-SB"/>
                <a:cs typeface="DFKai-SB"/>
                <a:sym typeface="DFKai-SB"/>
              </a:rPr>
              <a:t>結果呈現</a:t>
            </a:r>
            <a:endParaRPr b="1" sz="2200"/>
          </a:p>
          <a:p>
            <a:pPr indent="-889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252" name="Google Shape;25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34"/>
          <p:cNvSpPr txBox="1"/>
          <p:nvPr/>
        </p:nvSpPr>
        <p:spPr>
          <a:xfrm>
            <a:off x="1727200" y="241808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Data Sources</a:t>
            </a:r>
            <a:endParaRPr b="1"/>
          </a:p>
        </p:txBody>
      </p:sp>
      <p:sp>
        <p:nvSpPr>
          <p:cNvPr id="260" name="Google Shape;260;p35"/>
          <p:cNvSpPr txBox="1"/>
          <p:nvPr>
            <p:ph idx="1" type="body"/>
          </p:nvPr>
        </p:nvSpPr>
        <p:spPr>
          <a:xfrm>
            <a:off x="838200" y="1825625"/>
            <a:ext cx="10515600" cy="295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highlight>
                  <a:schemeClr val="lt1"/>
                </a:highlight>
              </a:rPr>
              <a:t>The analysis uses FPKM tracking files from four GEO datasets </a:t>
            </a:r>
            <a:endParaRPr sz="2400">
              <a:highlight>
                <a:schemeClr val="lt1"/>
              </a:highlight>
            </a:endParaRPr>
          </a:p>
        </p:txBody>
      </p:sp>
      <p:sp>
        <p:nvSpPr>
          <p:cNvPr id="261" name="Google Shape;261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2" name="Google Shape;26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900" y="2297750"/>
            <a:ext cx="6204201" cy="22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5"/>
          <p:cNvSpPr txBox="1"/>
          <p:nvPr>
            <p:ph idx="1" type="body"/>
          </p:nvPr>
        </p:nvSpPr>
        <p:spPr>
          <a:xfrm>
            <a:off x="838200" y="4560250"/>
            <a:ext cx="10515600" cy="295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highlight>
                  <a:schemeClr val="lt1"/>
                </a:highlight>
              </a:rPr>
              <a:t>with Ortholog mapping table</a:t>
            </a:r>
            <a:endParaRPr sz="24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Code </a:t>
            </a:r>
            <a:endParaRPr b="1"/>
          </a:p>
        </p:txBody>
      </p:sp>
      <p:sp>
        <p:nvSpPr>
          <p:cNvPr id="270" name="Google Shape;270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36"/>
          <p:cNvSpPr txBox="1"/>
          <p:nvPr/>
        </p:nvSpPr>
        <p:spPr>
          <a:xfrm>
            <a:off x="1055475" y="2548900"/>
            <a:ext cx="107676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  <a:highlight>
                  <a:srgbClr val="FFFFFF"/>
                </a:highlight>
              </a:rPr>
              <a:t>Data Loading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eriod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Loads ortholog mapping table and FPKM tracking files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eriod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Maps FlyBase gene IDs (FBgn) to standardized gene names across species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  <a:highlight>
                  <a:srgbClr val="FFFFFF"/>
                </a:highlight>
              </a:rPr>
              <a:t>Expression Matrix Construction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eriod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Creates and Output 10,036 genes × 20 samples matrix.csv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  <a:highlight>
                  <a:srgbClr val="FFFFFF"/>
                </a:highlight>
              </a:rPr>
              <a:t>Upper Quartile Normalization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72" name="Google Shape;272;p36"/>
          <p:cNvSpPr txBox="1"/>
          <p:nvPr/>
        </p:nvSpPr>
        <p:spPr>
          <a:xfrm>
            <a:off x="965700" y="1400275"/>
            <a:ext cx="99225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written in R, with NOISeq package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73" name="Google Shape;273;p36"/>
          <p:cNvSpPr txBox="1"/>
          <p:nvPr/>
        </p:nvSpPr>
        <p:spPr>
          <a:xfrm>
            <a:off x="2800525" y="730225"/>
            <a:ext cx="112023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***Script of the reproduction was created by Claude Code.</a:t>
            </a:r>
            <a:br>
              <a:rPr lang="en-US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"/>
          <p:cNvSpPr txBox="1"/>
          <p:nvPr>
            <p:ph type="title"/>
          </p:nvPr>
        </p:nvSpPr>
        <p:spPr>
          <a:xfrm>
            <a:off x="838200" y="4999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Code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7"/>
          <p:cNvSpPr txBox="1"/>
          <p:nvPr>
            <p:ph idx="1" type="body"/>
          </p:nvPr>
        </p:nvSpPr>
        <p:spPr>
          <a:xfrm>
            <a:off x="741625" y="1487650"/>
            <a:ext cx="11595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highlight>
                  <a:srgbClr val="FFFFFF"/>
                </a:highlight>
              </a:rPr>
              <a:t>4. </a:t>
            </a:r>
            <a:r>
              <a:rPr b="1" lang="en-US" sz="2000">
                <a:highlight>
                  <a:srgbClr val="FFFFFF"/>
                </a:highlight>
              </a:rPr>
              <a:t>Differential Expression Analysis </a:t>
            </a:r>
            <a:endParaRPr b="1" sz="2000">
              <a:highlight>
                <a:srgbClr val="FFFFFF"/>
              </a:highlight>
            </a:endParaRPr>
          </a:p>
          <a:p>
            <a:pPr indent="-355600" lvl="1" marL="914400" marR="76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-US" sz="2000">
                <a:highlight>
                  <a:srgbClr val="FFFFFF"/>
                </a:highlight>
              </a:rPr>
              <a:t>NOISeq analysis for 4 comparisons </a:t>
            </a:r>
            <a:endParaRPr b="1" sz="2000">
              <a:highlight>
                <a:srgbClr val="FFFFFF"/>
              </a:highlight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romanLcPeriod"/>
            </a:pPr>
            <a:r>
              <a:rPr b="1" lang="en-US">
                <a:highlight>
                  <a:srgbClr val="FFFFFF"/>
                </a:highlight>
              </a:rPr>
              <a:t>Taiwan comparisons (Dsec vs Dmel):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>
                <a:solidFill>
                  <a:srgbClr val="A31515"/>
                </a:solidFill>
                <a:highlight>
                  <a:srgbClr val="FFFFFF"/>
                </a:highlight>
              </a:rPr>
              <a:t>replicates="technical"</a:t>
            </a:r>
            <a:r>
              <a:rPr lang="en-US">
                <a:highlight>
                  <a:srgbClr val="FFFFFF"/>
                </a:highlight>
              </a:rPr>
              <a:t> (single Dmel replicate)</a:t>
            </a:r>
            <a:endParaRPr>
              <a:highlight>
                <a:srgbClr val="FFFFFF"/>
              </a:highlight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romanLcPeriod"/>
            </a:pPr>
            <a:r>
              <a:rPr b="1" lang="en-US">
                <a:highlight>
                  <a:srgbClr val="FFFFFF"/>
                </a:highlight>
              </a:rPr>
              <a:t>Japan comparisons (Dsec vs Dsim):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>
                <a:solidFill>
                  <a:srgbClr val="A31515"/>
                </a:solidFill>
                <a:highlight>
                  <a:srgbClr val="FFFFFF"/>
                </a:highlight>
              </a:rPr>
              <a:t>replicates="biological"</a:t>
            </a:r>
            <a:r>
              <a:rPr lang="en-US">
                <a:highlight>
                  <a:srgbClr val="FFFFFF"/>
                </a:highlight>
              </a:rPr>
              <a:t> (3 replicates each)</a:t>
            </a:r>
            <a:endParaRPr>
              <a:highlight>
                <a:srgbClr val="FFFFFF"/>
              </a:highlight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romanLcPeriod"/>
            </a:pPr>
            <a:r>
              <a:rPr lang="en-US" sz="2000">
                <a:highlight>
                  <a:srgbClr val="FFFFFF"/>
                </a:highlight>
              </a:rPr>
              <a:t>Parameters: k=0.5, norm="uqua", pnr=0.2, nss=5, v=0.02, lc=0</a:t>
            </a:r>
            <a:endParaRPr sz="2000">
              <a:highlight>
                <a:srgbClr val="FFFFFF"/>
              </a:highlight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-US" sz="2000">
                <a:highlight>
                  <a:srgbClr val="FFFFFF"/>
                </a:highlight>
              </a:rPr>
              <a:t>Calculate Log2 fold-change and absolute difference</a:t>
            </a:r>
            <a:endParaRPr b="1" sz="2000">
              <a:highlight>
                <a:srgbClr val="FFFFFF"/>
              </a:highlight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-US" sz="2000">
                <a:highlight>
                  <a:srgbClr val="FFFFFF"/>
                </a:highlight>
              </a:rPr>
              <a:t>estimate the Prob that (M,D ) is  outside of noise distributiontion (Threshold set t o0.8)</a:t>
            </a:r>
            <a:endParaRPr b="1" sz="2000">
              <a:highlight>
                <a:srgbClr val="FFFFFF"/>
              </a:highlight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-US" sz="2000">
                <a:highlight>
                  <a:srgbClr val="FFFFFF"/>
                </a:highlight>
              </a:rPr>
              <a:t>Output 4 DEG Comparison Table</a:t>
            </a:r>
            <a:endParaRPr b="1"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 sz="2000">
                <a:highlight>
                  <a:srgbClr val="FFFFFF"/>
                </a:highlight>
              </a:rPr>
              <a:t>	</a:t>
            </a:r>
            <a:endParaRPr b="1" sz="2000">
              <a:highlight>
                <a:srgbClr val="FFFFFF"/>
              </a:highlight>
            </a:endParaRPr>
          </a:p>
        </p:txBody>
      </p:sp>
      <p:sp>
        <p:nvSpPr>
          <p:cNvPr id="281" name="Google Shape;281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2" name="Google Shape;28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650" y="4538525"/>
            <a:ext cx="582930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/>
          <p:nvPr>
            <p:ph type="title"/>
          </p:nvPr>
        </p:nvSpPr>
        <p:spPr>
          <a:xfrm>
            <a:off x="838200" y="4999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Code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8"/>
          <p:cNvSpPr txBox="1"/>
          <p:nvPr>
            <p:ph idx="1" type="body"/>
          </p:nvPr>
        </p:nvSpPr>
        <p:spPr>
          <a:xfrm>
            <a:off x="741625" y="1487650"/>
            <a:ext cx="11595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highlight>
                  <a:srgbClr val="FFFFFF"/>
                </a:highlight>
              </a:rPr>
              <a:t>5</a:t>
            </a:r>
            <a:r>
              <a:rPr b="1" lang="en-US" sz="2000">
                <a:highlight>
                  <a:srgbClr val="FFFFFF"/>
                </a:highlight>
              </a:rPr>
              <a:t>. Filter for 18 target Chemosensory genes</a:t>
            </a:r>
            <a:endParaRPr b="1" sz="2000">
              <a:highlight>
                <a:srgbClr val="FFFFFF"/>
              </a:highlight>
            </a:endParaRPr>
          </a:p>
          <a:p>
            <a:pPr indent="-355600" lvl="1" marL="914400" marR="76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-US" sz="2000">
                <a:highlight>
                  <a:srgbClr val="FFFFFF"/>
                </a:highlight>
              </a:rPr>
              <a:t>Calculate mean FPKM per condition</a:t>
            </a:r>
            <a:endParaRPr sz="2000">
              <a:highlight>
                <a:srgbClr val="FFFFFF"/>
              </a:highlight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-US" sz="2000">
                <a:highlight>
                  <a:srgbClr val="FFFFFF"/>
                </a:highlight>
              </a:rPr>
              <a:t>Calculate Log2 </a:t>
            </a:r>
            <a:endParaRPr b="1" sz="2000">
              <a:highlight>
                <a:srgbClr val="FFFFFF"/>
              </a:highlight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-US" sz="2000">
                <a:highlight>
                  <a:srgbClr val="FFFFFF"/>
                </a:highlight>
              </a:rPr>
              <a:t>Output Reproduced Table 1</a:t>
            </a:r>
            <a:endParaRPr b="1"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 sz="2000">
                <a:highlight>
                  <a:srgbClr val="FFFFFF"/>
                </a:highlight>
              </a:rPr>
              <a:t>	</a:t>
            </a:r>
            <a:endParaRPr b="1" sz="2000">
              <a:highlight>
                <a:srgbClr val="FFFFFF"/>
              </a:highlight>
            </a:endParaRPr>
          </a:p>
        </p:txBody>
      </p:sp>
      <p:sp>
        <p:nvSpPr>
          <p:cNvPr id="290" name="Google Shape;290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>
            <p:ph type="title"/>
          </p:nvPr>
        </p:nvSpPr>
        <p:spPr>
          <a:xfrm>
            <a:off x="838200" y="365125"/>
            <a:ext cx="9205200" cy="987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Result   </a:t>
            </a:r>
            <a:r>
              <a:rPr lang="en-US" sz="3000"/>
              <a:t>Reproduced                                    Paper</a:t>
            </a:r>
            <a:endParaRPr sz="3000"/>
          </a:p>
        </p:txBody>
      </p:sp>
      <p:sp>
        <p:nvSpPr>
          <p:cNvPr id="297" name="Google Shape;297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8" name="Google Shape;29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175" y="1161825"/>
            <a:ext cx="5215211" cy="555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5362" y="1161825"/>
            <a:ext cx="3575563" cy="555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Comparing our DEGs with the original DEGs</a:t>
            </a:r>
            <a:endParaRPr/>
          </a:p>
        </p:txBody>
      </p:sp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838200" y="1825625"/>
            <a:ext cx="10515600" cy="44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For 9000 – 10000 genes &amp; threshold q &gt; .80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06" name="Google Shape;30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07" name="Google Shape;307;p40"/>
          <p:cNvGraphicFramePr/>
          <p:nvPr/>
        </p:nvGraphicFramePr>
        <p:xfrm>
          <a:off x="150964" y="24103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{E45C1598-9E7A-420E-BD14-27F7431456A0}</a:tableStyleId>
              </a:tblPr>
              <a:tblGrid>
                <a:gridCol w="954725"/>
                <a:gridCol w="1274450"/>
                <a:gridCol w="1384950"/>
                <a:gridCol w="1384950"/>
                <a:gridCol w="914050"/>
              </a:tblGrid>
              <a:tr h="411675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D. sec vs. D mel. Males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4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Their results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DEGs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Non-DEGs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7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DEGs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66FF"/>
                          </a:solidFill>
                        </a:rPr>
                        <a:t>2804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91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96.9%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correct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Non-DEGs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66FF"/>
                          </a:solidFill>
                        </a:rPr>
                        <a:t>674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80.6% DEGs retrieved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8" name="Google Shape;308;p40"/>
          <p:cNvGraphicFramePr/>
          <p:nvPr/>
        </p:nvGraphicFramePr>
        <p:xfrm>
          <a:off x="6136492" y="24103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{E45C1598-9E7A-420E-BD14-27F7431456A0}</a:tableStyleId>
              </a:tblPr>
              <a:tblGrid>
                <a:gridCol w="954725"/>
                <a:gridCol w="1274450"/>
                <a:gridCol w="1384950"/>
                <a:gridCol w="1384950"/>
                <a:gridCol w="914050"/>
              </a:tblGrid>
              <a:tr h="411675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D. sec vs. D mel. Females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4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Their results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DEGs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Non-DEGs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7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DEGs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66FF"/>
                          </a:solidFill>
                        </a:rPr>
                        <a:t>3013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91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97.0 %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correct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Non-DEGs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66FF"/>
                          </a:solidFill>
                        </a:rPr>
                        <a:t>671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81.8% DEGs retrieved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Comparing our DEGs with the original DEGs</a:t>
            </a:r>
            <a:endParaRPr/>
          </a:p>
        </p:txBody>
      </p:sp>
      <p:sp>
        <p:nvSpPr>
          <p:cNvPr id="314" name="Google Shape;314;p41"/>
          <p:cNvSpPr txBox="1"/>
          <p:nvPr>
            <p:ph idx="1" type="body"/>
          </p:nvPr>
        </p:nvSpPr>
        <p:spPr>
          <a:xfrm>
            <a:off x="838200" y="1825625"/>
            <a:ext cx="10515600" cy="44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For 9000 – 10000 genes &amp; threshold q &gt; .80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15" name="Google Shape;315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6" name="Google Shape;316;p41"/>
          <p:cNvGraphicFramePr/>
          <p:nvPr/>
        </p:nvGraphicFramePr>
        <p:xfrm>
          <a:off x="150964" y="24103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{E45C1598-9E7A-420E-BD14-27F7431456A0}</a:tableStyleId>
              </a:tblPr>
              <a:tblGrid>
                <a:gridCol w="954725"/>
                <a:gridCol w="1274450"/>
                <a:gridCol w="1384950"/>
                <a:gridCol w="1384950"/>
                <a:gridCol w="914050"/>
              </a:tblGrid>
              <a:tr h="411675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D. sec vs. D sim. Males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4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Their results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DEGs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Non-DEGs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7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DEGs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66FF"/>
                          </a:solidFill>
                        </a:rPr>
                        <a:t>3112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578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84.3%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correct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Non-DEGs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66FF"/>
                          </a:solidFill>
                        </a:rPr>
                        <a:t>614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83.5% DEGs retrieved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7" name="Google Shape;317;p41"/>
          <p:cNvGraphicFramePr/>
          <p:nvPr/>
        </p:nvGraphicFramePr>
        <p:xfrm>
          <a:off x="6136492" y="24103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{E45C1598-9E7A-420E-BD14-27F7431456A0}</a:tableStyleId>
              </a:tblPr>
              <a:tblGrid>
                <a:gridCol w="954725"/>
                <a:gridCol w="1274450"/>
                <a:gridCol w="1384950"/>
                <a:gridCol w="1384950"/>
                <a:gridCol w="914050"/>
              </a:tblGrid>
              <a:tr h="411675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D. sec vs. D sim. Females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4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Their results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DEGs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Non-DEGs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7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Our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results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DEGs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66FF"/>
                          </a:solidFill>
                        </a:rPr>
                        <a:t>2296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86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96.4 %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correct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Non-DEGs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66FF"/>
                          </a:solidFill>
                        </a:rPr>
                        <a:t>810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73.9% DEGs retrieved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Venn diagram of up-regulated genes</a:t>
            </a:r>
            <a:endParaRPr/>
          </a:p>
        </p:txBody>
      </p:sp>
      <p:pic>
        <p:nvPicPr>
          <p:cNvPr descr="A diagram of a multicolored circle&#10;&#10;AI-generated content may be incorrect." id="323" name="Google Shape;323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2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203692"/>
            <a:ext cx="5181600" cy="359520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Venn diagram of down-regulated genes</a:t>
            </a:r>
            <a:endParaRPr/>
          </a:p>
        </p:txBody>
      </p:sp>
      <p:pic>
        <p:nvPicPr>
          <p:cNvPr descr="A diagram of a number of numbers&#10;&#10;AI-generated content may be incorrect." id="331" name="Google Shape;331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3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135918"/>
            <a:ext cx="5181600" cy="37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9" name="Google Shape;33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9876"/>
            <a:ext cx="12192001" cy="603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33251"/>
            <a:ext cx="12192002" cy="6108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